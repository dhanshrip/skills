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Effort Reduction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Dep Upgrades</c:v>
                  </c:pt>
                  <c:pt idx="1">
                    <c:v>Groovy→Kotlin</c:v>
                  </c:pt>
                  <c:pt idx="2">
                    <c:v>Privacy Manifest</c:v>
                  </c:pt>
                  <c:pt idx="3">
                    <c:v>Crash Triage</c:v>
                  </c:pt>
                  <c:pt idx="4">
                    <c:v>Build Failures</c:v>
                  </c:pt>
                  <c:pt idx="5">
                    <c:v>OS Compat Sweep</c:v>
                  </c:pt>
                  <c:pt idx="6">
                    <c:v>Localization</c:v>
                  </c:pt>
                  <c:pt idx="7">
                    <c:v>Visual Testing</c:v>
                  </c:pt>
                  <c:pt idx="8">
                    <c:v>UIKit→SwiftUI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</c:v>
                </c:pt>
                <c:pt idx="1">
                  <c:v>85</c:v>
                </c:pt>
                <c:pt idx="2">
                  <c:v>80</c:v>
                </c:pt>
                <c:pt idx="3">
                  <c:v>75</c:v>
                </c:pt>
                <c:pt idx="4">
                  <c:v>80</c:v>
                </c:pt>
                <c:pt idx="5">
                  <c:v>80</c:v>
                </c:pt>
                <c:pt idx="6">
                  <c:v>85</c:v>
                </c:pt>
                <c:pt idx="7">
                  <c:v>80</c:v>
                </c:pt>
                <c:pt idx="8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463040" cy="2011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926080"/>
            <a:ext cx="5943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926080"/>
            <a:ext cx="502920" cy="5943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731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Cost &amp; Effort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457200" y="12344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KTLO Using AI</a:t>
            </a:r>
            <a:endParaRPr lang="en-US" sz="4200" dirty="0"/>
          </a:p>
        </p:txBody>
      </p:sp>
      <p:sp>
        <p:nvSpPr>
          <p:cNvPr id="8" name="Text 3"/>
          <p:cNvSpPr/>
          <p:nvPr/>
        </p:nvSpPr>
        <p:spPr>
          <a:xfrm>
            <a:off x="45720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Mobile Engineering</a:t>
            </a:r>
            <a:endParaRPr lang="en-US" sz="2000" dirty="0"/>
          </a:p>
        </p:txBody>
      </p:sp>
      <p:sp>
        <p:nvSpPr>
          <p:cNvPr id="9" name="Shape 4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57200" y="3154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Engineering Team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KTLO Problem in Mobile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 effort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KTLO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43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 budget can 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just keeping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7432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43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Sprints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year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upgrades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compliance alone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Mobile KTLO Pain Points: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upgrades  •  OS API compatibility  •  Store compliance  •  Crash triage  •  Legacy code migration  •  CI/CD failures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Reduce KTLO from 25–30% → under 10% of engineering effort using AI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AI Win: Groovy → Kotlin DSL Migration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200400"/>
          </a:xfrm>
          <a:prstGeom prst="rect">
            <a:avLst/>
          </a:prstGeom>
          <a:solidFill>
            <a:srgbClr val="FFF5F5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conversion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story points per build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syntax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senior dev review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Repetitive, low-value work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10312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914400"/>
            <a:ext cx="3840480" cy="3200400"/>
          </a:xfrm>
          <a:prstGeom prst="rect">
            <a:avLst/>
          </a:prstGeom>
          <a:solidFill>
            <a:srgbClr val="F0FFF4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9326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(AI Automated)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20640" y="15087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 converts instantly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mins max (down from 3 story points)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validated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 can run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effort reduction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blueprint: identify repetitive KTLO → automate with AI → redeploy developer time to product work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572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AI KTLO Automation Opportunities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109728" cy="11887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566160" y="896112"/>
            <a:ext cx="749808" cy="34747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0" y="9052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↓85%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" y="914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Upgrades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" y="12984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 Android Studio: 1-click — identifies, updates, resolves build errors, runs tests, generates report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1945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94560"/>
            <a:ext cx="10972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2267712"/>
            <a:ext cx="74980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0" y="22768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↓75%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Triage &amp; Fix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5488" y="26700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App Quality Insights: 'Explain with Gemini' on Logcat → root cause + suggested code diff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35661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566160"/>
            <a:ext cx="109728" cy="11887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66160" y="3639312"/>
            <a:ext cx="749808" cy="347472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66160" y="36484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↓80%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" y="3657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Build Failures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" y="4041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with Gemini" button in Build panel → auto-resolve Gradle sync and compilation errors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54880" y="8229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822960"/>
            <a:ext cx="109728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0" y="896112"/>
            <a:ext cx="749808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9052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↓75%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956048" y="914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→ Kotlin / XML → Compose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56048" y="12984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Agent Mode + Android Studio Migration Assistant: automated, incremental, human-reviewed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54880" y="21945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194560"/>
            <a:ext cx="109728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46720" y="2267712"/>
            <a:ext cx="749808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0" y="22768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↓70%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956048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Generation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956048" y="26700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auto-generates unit tests from existing code — covers success, error, coroutine cases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754880" y="35661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54880" y="3566160"/>
            <a:ext cx="109728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46720" y="3639312"/>
            <a:ext cx="74980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46720" y="36484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↓60%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956048" y="3657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Code Review (PR Bot)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956048" y="4041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integrated into GitHub/GitLab pipelines: auto-review PRs, comment issues, open Jira tickets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1148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— AI KTLO Automation Opportunities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109728" cy="118872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566160" y="896112"/>
            <a:ext cx="749808" cy="347472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0" y="9052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↓80%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" y="914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Manifest Compliance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" y="12984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Privacy Manifest Fixer: shell scripts analyze PrivacyInfo.xcprivacy, auto-resolve issues, integrate into CI/CD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1945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94560"/>
            <a:ext cx="109728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2267712"/>
            <a:ext cx="749808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0" y="22768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↓75%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Compliance Audit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5488" y="26700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codebase for data-sharing with 3rd parties, auto-generates disclosures — prevents App Store rejection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35661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566160"/>
            <a:ext cx="10972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66160" y="3639312"/>
            <a:ext cx="74980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66160" y="36484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↓70%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" y="3657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→ SwiftUI Migration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" y="4041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incremental migration: converts XIBs/storyboards screen by screen with human review checkpoints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54880" y="8229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822960"/>
            <a:ext cx="109728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0" y="896112"/>
            <a:ext cx="74980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9052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↓75%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956048" y="914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ObjC → Swift Conversion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56048" y="12984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Gemini convert Objective-C files to idiomatic Swift — coroutines, async/await, optionals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54880" y="21945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194560"/>
            <a:ext cx="109728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46720" y="2267712"/>
            <a:ext cx="749808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0" y="22768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↓75%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956048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Analysis (Firebase + AI)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956048" y="26700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clusters crashes by root cause, explains stack traces in plain English, suggests fix — dSYM handling automated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754880" y="3566160"/>
            <a:ext cx="4114800" cy="118872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54880" y="3566160"/>
            <a:ext cx="109728" cy="118872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46720" y="3639312"/>
            <a:ext cx="749808" cy="34747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46720" y="364845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↓70%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956048" y="3657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SPM/CocoaPods Upgrade Audit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956048" y="4041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changelogs for breaking APIs before upgrade, flags incompatibilities — safe upgrade planning automated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— Shared AI Automation Wins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" cy="1234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 Regression Testing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984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Applitools/TestGrid: AI catches UI regressions across device matrix automatically. QA cycle: 3-4 days → same-day report.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411480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10972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CVE Scanning in CI/CD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71576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NowSecure/Checkmarx: Automated security &amp; privacy testing integrated into pipelines — scales across entire app portfolio.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411480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657600"/>
            <a:ext cx="10972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7490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Multiplatform (KMP) Migration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413308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business logic maintained ONCE instead of twice. KMP adoption: 7% (2024) → 18% (2025). Structural 50% KTLO reduction long-term.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22960"/>
            <a:ext cx="109728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9144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&amp; String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12984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auto-translates, detects missing keys, flags inconsistencies across 10–20 languages. L10n KTLO: 1 day → 1–2 hrs.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1480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109728" cy="1234440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331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App Size Audits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271576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APK/IPA bloat analysis — unused resources, redundant libraries, oversized assets. 2-3 day audit → CI pipeline run.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1480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109728" cy="1234440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7490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Release Notes &amp; Docs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413308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changelogs, runbooks, and API docs from commits &amp; code changes. Eliminates ~100% of manual doc-writing per release.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KTLO Savings Summary — Mobile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148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645920"/>
                <a:gridCol w="164592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KTLO Activity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Before 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After 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Savings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Dependency Upgrades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Android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2 sprint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2–3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↓ 85%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Crash Triage &amp; Root Cause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2–3 hrs/issue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20–30 mins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↓ 75%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Gradle / Build Failures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Android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2–4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Minutes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</a:rPr>
                        <a:t>↓ 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Java→Kotlin / XML→Compose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Android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2–4 hrs/class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20–30 mins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</a:rPr>
                        <a:t>↓ 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Privacy Manifest Compliance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iOS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2–3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2–4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</a:rPr>
                        <a:t>↓ 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App Store Compliance Audit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iOS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2–3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2–4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↓ 75%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UIKit→SwiftUI / ObjC→Swift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iOS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1–2 days/screen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2–3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</a:rPr>
                        <a:t>↓ 75%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OS API Compatibility Sweep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5 days/year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1 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</a:rPr>
                        <a:t>↓ 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Visual Regression Testing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3–4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Same-day report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A8"/>
                          </a:solidFill>
                        </a:rPr>
                        <a:t>↓ 80%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Localization Updates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Both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1 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1–2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↓ 85%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Groovy → Kotlin DSL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Android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</a:rPr>
                        <a:t>3 story points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</a:rPr>
                        <a:t>30 minutes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↓ 85%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 by KTLO Activity (%)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8595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3 Horizons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4114800"/>
          </a:xfrm>
          <a:prstGeom prst="rect">
            <a:avLst/>
          </a:prstGeom>
          <a:solidFill>
            <a:srgbClr val="F0FFF4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83464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Now (0–3 months)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Groovy → Kotlin DSL (Done)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 Android Studio — Dep upgrades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crash triage + fix suggestion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Manifest Fixer for iOS CI/CD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977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unit test generation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834640" cy="4114800"/>
          </a:xfrm>
          <a:prstGeom prst="rect">
            <a:avLst/>
          </a:prstGeom>
          <a:solidFill>
            <a:srgbClr val="F0F7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77240"/>
            <a:ext cx="28346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795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Short-term (3–6 months)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 code review bot in GitHub/GitLab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→ SwiftUI incremental migration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→ Kotlin class-by-class automation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560" y="3337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testing pipeline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3977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compliance scanner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777240"/>
            <a:ext cx="2834640" cy="4114800"/>
          </a:xfrm>
          <a:prstGeom prst="rect">
            <a:avLst/>
          </a:prstGeom>
          <a:solidFill>
            <a:srgbClr val="FAF0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777240"/>
            <a:ext cx="283464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795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Strategic (6–12 months)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Multiplatform (KMP) adoption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AI-powered KTLO dashboard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936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CVE triage &amp; patch pipeline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3337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release notes &amp; runbooks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3977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KTLO effort target: &lt;10% of eng capacity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horizon builds on the last — H1 proves ROI, H2 scales it, H3 structurally eliminates KTLO toil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6400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replacing developers —
</a:t>
            </a:r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eliminating the toil.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251460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6974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saved on KTLO is an hour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in product innovation.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3657600"/>
            <a:ext cx="2560320" cy="1188720"/>
          </a:xfrm>
          <a:prstGeom prst="rect">
            <a:avLst/>
          </a:prstGeom>
          <a:solidFill>
            <a:srgbClr val="25348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42793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KTLO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 effort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3657600"/>
            <a:ext cx="2560320" cy="1188720"/>
          </a:xfrm>
          <a:prstGeom prst="rect">
            <a:avLst/>
          </a:prstGeom>
          <a:solidFill>
            <a:srgbClr val="25348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337560" y="42793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Savings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657600"/>
            <a:ext cx="2560320" cy="1188720"/>
          </a:xfrm>
          <a:prstGeom prst="rect">
            <a:avLst/>
          </a:prstGeom>
          <a:solidFill>
            <a:srgbClr val="25348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85%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217920" y="42793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Groovy→Kotlin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KTLO Savings — Mobile</dc:title>
  <dc:subject>PptxGenJS Presentation</dc:subject>
  <dc:creator>PptxGenJS</dc:creator>
  <cp:lastModifiedBy>PptxGenJS</cp:lastModifiedBy>
  <cp:revision>1</cp:revision>
  <dcterms:created xsi:type="dcterms:W3CDTF">2026-06-04T03:54:05Z</dcterms:created>
  <dcterms:modified xsi:type="dcterms:W3CDTF">2026-06-04T03:54:05Z</dcterms:modified>
</cp:coreProperties>
</file>